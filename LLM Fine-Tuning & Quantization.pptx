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076325"/>
            <a:ext cx="7924800" cy="1314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Fine-Tuning &amp; Quantization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973180" y="2543175"/>
            <a:ext cx="5197641" cy="365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Optimizing Large Language Models for Production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85752" y="3518520"/>
            <a:ext cx="3772422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Science • Machine Learning • Model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What is Fine-Tuning?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7924800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Transfer Learning Approach: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Taking a pretrained LLM and retraining it on a specific dataset to specialize its behavior.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23450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Real Example: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01243"/>
            <a:ext cx="7620000" cy="777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Llama-3.2-4B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Base model (autocomplete only)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Llama-3.2-3B-Instruct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Fine-tuned version (ChatGPT-like behavior)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7325"/>
            <a:ext cx="3810000" cy="3076575"/>
          </a:xfrm>
          <a:prstGeom prst="rect">
            <a:avLst/>
          </a:prstGeom>
          <a:solidFill>
            <a:srgbClr val="1E293B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457325"/>
            <a:ext cx="3810000" cy="3076575"/>
          </a:xfrm>
          <a:prstGeom prst="rect">
            <a:avLst/>
          </a:prstGeom>
          <a:solidFill>
            <a:srgbClr val="1E293B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Fine-Tuning vs RAG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762125"/>
            <a:ext cx="3264408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2176463"/>
            <a:ext cx="2895600" cy="1440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Bakes knowledge into weights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Handles tone &amp; slang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Brand-specific behavior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Expensive &amp; slow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762125"/>
            <a:ext cx="3264408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2176463"/>
            <a:ext cx="2895600" cy="1440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Retrieves external docs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Easy knowledge updates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Low cost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weight changes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1125"/>
            <a:ext cx="7924800" cy="115215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 Query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 RAG Path: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├─ Retrieve relevant docs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├─ Feed to base model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└─ Generate answer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 Fine-Tune Path: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├─ Model pre-trained on domain data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└─ Generate specialized answer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RAG vs Fine-Tuning Flow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Full Fine-Tuning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8083296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Train </a:t>
            </a: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weights of the model (e.g., 70B parameters = 70B weights trained)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96021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Disadvantages: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26953"/>
            <a:ext cx="7620000" cy="11657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Very expensive (compute &amp; memory)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Risk of catastrophic forgetting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Can damage original capabilities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921323"/>
            <a:ext cx="8083296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Trade-off: Strong specialization vs. high cost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PEFT: Parameter-Efficient Fine-Tuning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8083296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Idea: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Freeze base model weights, train only small adapters/LoRA matrices.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96021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Advantages: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26953"/>
            <a:ext cx="7620000" cy="11657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Dramatically reduces VRAM &amp; compute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Preserves base model knowledge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Low cost, fast training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1125"/>
            <a:ext cx="7924800" cy="115215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Pretrained Model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 Full Fine-Tuning Path: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├─ Unfreeze all layers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├─ Train all weights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└─ High cost, risk of forgetting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 PEFT Path: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├─ Freeze base model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├─ Add small adapters/LoRA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└─ Train only adapters → Low cost!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Full Fine-Tuning vs PEFT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07815"/>
            <a:ext cx="7924800" cy="862013"/>
          </a:xfrm>
          <a:prstGeom prst="rect">
            <a:avLst/>
          </a:prstGeom>
          <a:solidFill>
            <a:srgbClr val="1E293B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LoRA: Low-Rank Adaptation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28725"/>
            <a:ext cx="8083296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Idea: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Represent weight updates ΔW as product of two low-rank matrices.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807815"/>
            <a:ext cx="7924800" cy="8620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0"/>
              </a:lnSpc>
              <a:buNone/>
            </a:pPr>
            <a:r>
              <a:rPr lang="en-US" sz="132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ΔW ≈ A × B </a:t>
            </a:r>
            <a:endParaRPr lang="en-US" sz="1320" dirty="0"/>
          </a:p>
          <a:p>
            <a:pPr marL="0" indent="0" algn="ctr">
              <a:lnSpc>
                <a:spcPts val="1190"/>
              </a:lnSpc>
              <a:buNone/>
            </a:pPr>
            <a:r>
              <a:rPr lang="en-US" sz="132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where A ∈ ℝ^(d×r), B ∈ ℝ^(r×d), r ≪ d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09600" y="2974628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Parameter Savings: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65165"/>
            <a:ext cx="7620000" cy="777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Full ΔW: d² parameters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LoRA: 2dr parameters (much smaller when r is small)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5463"/>
            <a:ext cx="7924800" cy="115215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Original ΔW: 5×5 matrix = 25 parameters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Using rank r=2: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A: 5×2 matrix = 10 parameters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B: 2×5 matrix = 10 parameters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Total: 20 parameters (&lt; 25)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Larger example (d=512, r=8):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d² = 262,144 (full)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2dr = 8,192 (LoRA) ← 32x reduction!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LoRA: Concrete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2872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5×5 Weight Matrix: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1125"/>
            <a:ext cx="7924800" cy="920502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 x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├─ Path 1: Base weight W (frozen) → W·x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│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└─ Path 2: LoRA adapters → A·B·x (trainable)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Output: (W + A·B)·x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Only A and B get updated during training!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 in a Neural Network Layer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 Quantization?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8083296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Goal: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Convert high-precision (float32) to low-precision (int8, int4) formats.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401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50753"/>
            <a:ext cx="7620000" cy="11657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📉 Reduced memory footprint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Faster inference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💰 Lower compute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845123"/>
            <a:ext cx="8083296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Trade-off: Slight accuracy loss for massive efficiency gains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3525"/>
            <a:ext cx="7924800" cy="65246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 = round( (x - center) / scale )</a:t>
            </a:r>
            <a:endParaRPr lang="en-US" sz="132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Quantization Formula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2643188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Where: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09925"/>
            <a:ext cx="7620000" cy="15543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x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= original float32 value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center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= reference point (0 or distribution center)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scale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= (x_max - x_min) / (q_max - q_min)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= quantized integer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72643"/>
            <a:ext cx="7924800" cy="65246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Scale = (1 - (-4)) / (127 - (-128)) = 5/255 = 0.0078</a:t>
            </a:r>
            <a:endParaRPr lang="en-US" sz="132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Int8 Quantization: Worked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2872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Given: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43063"/>
            <a:ext cx="7620000" cy="777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Float32 range: [-4, 1]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Int8 range: [-128, 127]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606105"/>
            <a:ext cx="8083296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Result:</a:t>
            </a: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Float value -0.91 maps to -11 in int8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5463"/>
            <a:ext cx="7924800" cy="920502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Original: [-0.91, -0.78, -0.33, 0.22, 0.28, 0.87]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Int2 buckets: [-2, -1, 0, 1]  (4 values = 2²)</a:t>
            </a:r>
            <a:endParaRPr lang="en-US" sz="1140" dirty="0"/>
          </a:p>
          <a:p>
            <a:pPr marL="0" indent="0" algn="l">
              <a:buNone/>
            </a:pP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Quantized: [-2, -2, -1, 0, 0, 1]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Simple Quantization: Int2 Buckets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2872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Float32 values in [-1, 1]: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3096964"/>
            <a:ext cx="8083296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insight:</a:t>
            </a: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Map continuous values to discrete buckets → massive memory reduction!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Quantization Strategy by Model Size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919537"/>
            <a:ext cx="8083296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Larger models need higher precision to maintain stability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QLoRA: Quantization + LoRA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28725"/>
            <a:ext cx="8083296" cy="2742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Combines:</a:t>
            </a:r>
            <a:r>
              <a:rPr lang="en-US" sz="135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4-bit quantization of base model + LoRA adapters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4015"/>
            <a:ext cx="8083296" cy="2619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50753"/>
            <a:ext cx="7620000" cy="15543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Base weights quantized to 4-bit (frozen)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 adapters in 16-bit (trainable)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Double quantization for efficiency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Paged optimizers reduce VRAM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1125"/>
            <a:ext cx="7924800" cy="115215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Load pretrained model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Quantize base weights to 4-bit (frozen)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 LoRA adapters on q_proj, v_proj, etc.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Train only LoRA params in 16-bit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Save: quantized base + small adapter weights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↓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Deploy: run with 4-bit base + adapters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QLoRA Pipeline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3525"/>
            <a:ext cx="7924800" cy="1152153"/>
          </a:xfrm>
          <a:prstGeom prst="rect">
            <a:avLst/>
          </a:prstGeom>
          <a:solidFill>
            <a:srgbClr val="1E293B"/>
          </a:solidFill>
        </p:spPr>
        <p:txBody>
          <a:bodyPr wrap="square" lIns="228600" tIns="228600" rIns="228600" bIns="2286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Parameter Efficient Fine-Tuning (PEFT)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 LoRA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└─ Low-Rank Adaptation (rank r)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 QLoRA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 └─ LoRA + 4-bit quantization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 Other Methods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├─ Prefix Tuning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├─ Adapter Layers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└─ Prompt Tuning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PEFT Methods Overview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457325"/>
            <a:ext cx="7620000" cy="2331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Fine-tuning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specializes models on domain data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Full FT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expensive; </a:t>
            </a: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PEFT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is efficient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LoRA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reduces trainable params dramatically via low-rank factorization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Quantization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cuts memory by mapping to lower-precision integers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QLoRA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combines both for maximum efficiency</a:t>
            </a:r>
            <a:endParaRPr lang="en-US" sz="1200" dirty="0"/>
          </a:p>
          <a:p>
            <a:pPr marL="0" indent="0">
              <a:lnSpc>
                <a:spcPts val="1080"/>
              </a:lnSpc>
              <a:buSzPct val="100000"/>
              <a:buNone/>
            </a:pPr>
            <a:r>
              <a:rPr lang="en-US" sz="1350" b="1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Model size matters</a:t>
            </a:r>
            <a:r>
              <a:rPr lang="en-US" sz="1200" dirty="0">
                <a:solidFill>
                  <a:srgbClr val="F1F5F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larger models need more precision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4198</Words>
  <Application>WPS Spreadsheets</Application>
  <PresentationFormat>On-screen Show (16:9)</PresentationFormat>
  <Paragraphs>215</Paragraphs>
  <Slides>19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SimSun</vt:lpstr>
      <vt:lpstr>Wingdings</vt:lpstr>
      <vt:lpstr>Arial</vt:lpstr>
      <vt:lpstr>Arial</vt:lpstr>
      <vt:lpstr>monospace</vt:lpstr>
      <vt:lpstr>苹方-简</vt:lpstr>
      <vt:lpstr>monospace</vt:lpstr>
      <vt:lpstr>monospace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atul5.rai</cp:lastModifiedBy>
  <cp:revision>2</cp:revision>
  <dcterms:created xsi:type="dcterms:W3CDTF">2025-12-18T09:13:27Z</dcterms:created>
  <dcterms:modified xsi:type="dcterms:W3CDTF">2025-12-18T09:13:27Z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3BC356CCF7F0DB98B7C54369FB76CEAA_42</vt:lpwstr>
  </property>
  <property fmtid="{D5CDD505-2E9C-101B-9397-08002B2CF9AE}" pid="3" name="KSOProductBuildVer">
    <vt:lpwstr>1033-12.1.22553.22553</vt:lpwstr>
  </property>
</Properties>
</file>